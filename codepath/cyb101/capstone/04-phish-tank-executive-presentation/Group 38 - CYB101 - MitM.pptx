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oboto Slab"/>
      <p:regular r:id="rId19"/>
      <p:bold r:id="rId20"/>
    </p:embeddedFont>
    <p:embeddedFont>
      <p:font typeface="Raleway"/>
      <p:regular r:id="rId21"/>
      <p:bold r:id="rId22"/>
      <p:italic r:id="rId23"/>
      <p:boldItalic r:id="rId24"/>
    </p:embeddedFont>
    <p:embeddedFont>
      <p:font typeface="Roboto"/>
      <p:regular r:id="rId25"/>
      <p:bold r:id="rId26"/>
      <p:italic r:id="rId27"/>
      <p:boldItalic r:id="rId28"/>
    </p:embeddedFont>
    <p:embeddedFont>
      <p:font typeface="Poppins"/>
      <p:regular r:id="rId29"/>
      <p:bold r:id="rId30"/>
      <p:italic r:id="rId31"/>
      <p:boldItalic r:id="rId32"/>
    </p:embeddedFont>
    <p:embeddedFont>
      <p:font typeface="Raleway Black"/>
      <p:bold r:id="rId33"/>
      <p:boldItalic r:id="rId34"/>
    </p:embeddedFont>
    <p:embeddedFont>
      <p:font typeface="Poppins Black"/>
      <p:bold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Slab-bold.fntdata"/><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italic.fntdata"/><Relationship Id="rId30" Type="http://schemas.openxmlformats.org/officeDocument/2006/relationships/font" Target="fonts/Poppins-bold.fntdata"/><Relationship Id="rId11" Type="http://schemas.openxmlformats.org/officeDocument/2006/relationships/slide" Target="slides/slide6.xml"/><Relationship Id="rId33" Type="http://schemas.openxmlformats.org/officeDocument/2006/relationships/font" Target="fonts/RalewayBlack-bold.fntdata"/><Relationship Id="rId10" Type="http://schemas.openxmlformats.org/officeDocument/2006/relationships/slide" Target="slides/slide5.xml"/><Relationship Id="rId32" Type="http://schemas.openxmlformats.org/officeDocument/2006/relationships/font" Target="fonts/Poppins-boldItalic.fntdata"/><Relationship Id="rId13" Type="http://schemas.openxmlformats.org/officeDocument/2006/relationships/slide" Target="slides/slide8.xml"/><Relationship Id="rId35" Type="http://schemas.openxmlformats.org/officeDocument/2006/relationships/font" Target="fonts/PoppinsBlack-bold.fntdata"/><Relationship Id="rId12" Type="http://schemas.openxmlformats.org/officeDocument/2006/relationships/slide" Target="slides/slide7.xml"/><Relationship Id="rId34" Type="http://schemas.openxmlformats.org/officeDocument/2006/relationships/font" Target="fonts/RalewayBlack-boldItalic.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PoppinsBlack-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Slab-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5bc1bd41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5bc1bd41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longer, more wordy definition from the National Institute of Standards and Technology: “A form of active wiretapping attack in which the attacker intercepts and selectively modifies communicated data to masquerade as one or more of the entities involved in a communication association.”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2e69db344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2e69db344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attack is under the basic precedent that there is a connection and a flow of information between two parties, whether that be a remote client accessing a server or two parties within an organization.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5bc1bd41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5bc1bd41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can be enacted in many different ways, such as “spoofing” their IP or MAC address, pretending to be an intended </a:t>
            </a:r>
            <a:r>
              <a:rPr lang="en"/>
              <a:t>receiver</a:t>
            </a:r>
            <a:r>
              <a:rPr lang="en"/>
              <a:t>. This example is most likely a form of ARP poisoning, redirecting information flowing from both entities through itself.</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5bc1bd41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5bc1bd41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embedded, an attacker may take a number of passive or active actions, depending on the nature of how they have interceded themselves. This could mean they passively gain confidential information, edit or alter messages, or remove the message altogether.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2e69db34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2e69db34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4789fcd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4789fcd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2e69db34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2e69db34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Alright, so here’s where we shift from the technical side into the business side — why a Man-in-the-Middle attack actually matters to a company.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First, Assets at Risk. When someone sits between your systems, they’re not just watching traffic — they’re pulling passwords, session tokens, and internal data straight out of the stream. That’s everything an attacker needs to impersonate employees or break into private systems.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Next, the Business Impact. Once they have those credentials, you’re looking at account takeover, fraudulent activity, and even regulatory fines if sensitive data gets exposed. This is where the technical problem turns into a business crisis.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And then the Bottom Line. When customers lose trust, the business pays for it — financially and reputationally. Even a small breach forces companies to invest immediately just to rebuild confidence and stop the bleeding.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So the big point here is: MitM isn’t just a hacker problem. It’s a business risk with real costs.”</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5be553956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5be553956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Alright, the first way we shut down a Man-in-the-Middle attack is TLS Everywhere.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TLS is basically the standard for encrypting all web communication — and the reason it matters is right here on this slide.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On the left, you can see the core benefits: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It encrypts all communication, so even if someone intercepts the traffic, it’s unreadable.</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It prevents attackers from seeing things like passwords, session IDs, or private messages.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And it verifies the server’s identity so you’re actually talking to the real system, not a fake one pretending to be it.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To make it super simple, that postcard meme at the top tells the whole story.</a:t>
            </a:r>
            <a:br>
              <a:rPr b="1" lang="en">
                <a:solidFill>
                  <a:schemeClr val="dk1"/>
                </a:solidFill>
              </a:rPr>
            </a:br>
            <a:r>
              <a:rPr b="1" lang="en">
                <a:solidFill>
                  <a:schemeClr val="dk1"/>
                </a:solidFill>
              </a:rPr>
              <a:t> Unencrypted traffic is basically a postcard — anyone who touches it can read it.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But when you add TLS, it turns into a sealed, locked envelope — even if someone grabs it in transit, they can’t open it or see what’s inside.</a:t>
            </a:r>
            <a:endParaRPr b="1">
              <a:solidFill>
                <a:schemeClr val="dk1"/>
              </a:solidFill>
            </a:endParaRPr>
          </a:p>
          <a:p>
            <a:pPr indent="0" lvl="0" marL="0" rtl="0" algn="l">
              <a:lnSpc>
                <a:spcPct val="115000"/>
              </a:lnSpc>
              <a:spcBef>
                <a:spcPts val="1200"/>
              </a:spcBef>
              <a:spcAft>
                <a:spcPts val="1200"/>
              </a:spcAft>
              <a:buNone/>
            </a:pPr>
            <a:r>
              <a:rPr b="1" lang="en">
                <a:solidFill>
                  <a:schemeClr val="dk1"/>
                </a:solidFill>
              </a:rPr>
              <a:t>So TLS doesn’t stop someone from intercepting packets, but it makes those packets useless. It removes the exact weakness that Man-in-the-Middle attacks rely 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6913d8d4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6913d8d4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the second mitigation is </a:t>
            </a:r>
            <a:r>
              <a:rPr b="1" lang="en">
                <a:solidFill>
                  <a:schemeClr val="dk1"/>
                </a:solidFill>
              </a:rPr>
              <a:t>Zero Trust Access</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idea here is simple: the network stops assuming anyone is safe just because they’re ‘inside.’ There’s no trusted internal zone where devices get a free pass.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left side, you can see the core of Zero Trust — it verifies </a:t>
            </a:r>
            <a:r>
              <a:rPr b="1" lang="en">
                <a:solidFill>
                  <a:schemeClr val="dk1"/>
                </a:solidFill>
              </a:rPr>
              <a:t>every user, every device, and every request</a:t>
            </a:r>
            <a:r>
              <a:rPr lang="en">
                <a:solidFill>
                  <a:schemeClr val="dk1"/>
                </a:solidFill>
              </a:rPr>
              <a:t>, no matter what. There’s no automatic trust, even for employees or internal systems.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right, you can see what that means in practice: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No ‘trusted’ internal network</a:t>
            </a:r>
            <a:r>
              <a:rPr lang="en">
                <a:solidFill>
                  <a:schemeClr val="dk1"/>
                </a:solidFill>
              </a:rPr>
              <a:t> — attackers can’t hide inside the environment.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Every request is authenticated</a:t>
            </a:r>
            <a:r>
              <a:rPr lang="en">
                <a:solidFill>
                  <a:schemeClr val="dk1"/>
                </a:solidFill>
              </a:rPr>
              <a:t> — users constantly prove they’re legitimate.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And the biggest benefit: </a:t>
            </a:r>
            <a:r>
              <a:rPr b="1" lang="en">
                <a:solidFill>
                  <a:schemeClr val="dk1"/>
                </a:solidFill>
              </a:rPr>
              <a:t>it blocks attackers even if they manage to get into the network</a:t>
            </a:r>
            <a:r>
              <a:rPr lang="en">
                <a:solidFill>
                  <a:schemeClr val="dk1"/>
                </a:solidFill>
              </a:rPr>
              <a:t>, because they still can’t move around or access anything without meeting the same verification requirements as everyone else.</a:t>
            </a:r>
            <a:endParaRPr>
              <a:solidFill>
                <a:schemeClr val="dk1"/>
              </a:solidFill>
            </a:endParaRPr>
          </a:p>
          <a:p>
            <a:pPr indent="0" lvl="0" marL="0" rtl="0" algn="l">
              <a:spcBef>
                <a:spcPts val="1200"/>
              </a:spcBef>
              <a:spcAft>
                <a:spcPts val="0"/>
              </a:spcAft>
              <a:buNone/>
            </a:pPr>
            <a:r>
              <a:rPr lang="en" sz="1200">
                <a:solidFill>
                  <a:schemeClr val="dk1"/>
                </a:solidFill>
              </a:rPr>
              <a:t>So while TLS protects the traffic, Zero Trust protects the access. Together, they close the main doors and the side doors attackers rely on in a Man-in-the-Middle scenario</a:t>
            </a:r>
            <a:endParaRPr b="1"/>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6913d8d4e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6913d8d4e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6913d8d4e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a6913d8d4e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for our final recommendation, we’re going with a combined approach because it hits the problem from both angles without slowing the company down.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a:t>
            </a:r>
            <a:r>
              <a:rPr b="1" lang="en">
                <a:solidFill>
                  <a:schemeClr val="dk1"/>
                </a:solidFill>
              </a:rPr>
              <a:t>TLS everywhere</a:t>
            </a:r>
            <a:r>
              <a:rPr lang="en">
                <a:solidFill>
                  <a:schemeClr val="dk1"/>
                </a:solidFill>
              </a:rPr>
              <a:t>. This should be the baseline. It’s low-cost, easy to roll out, and it eliminates the main thing a Man-in-the-Middle attack depends on — readable, unencrypted traffic. The moment data becomes encrypted, attackers lose the ability to steal anything useful.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Then we layer in </a:t>
            </a:r>
            <a:r>
              <a:rPr b="1" lang="en">
                <a:solidFill>
                  <a:schemeClr val="dk1"/>
                </a:solidFill>
              </a:rPr>
              <a:t>Zero Trust</a:t>
            </a:r>
            <a:r>
              <a:rPr lang="en">
                <a:solidFill>
                  <a:schemeClr val="dk1"/>
                </a:solidFill>
              </a:rPr>
              <a:t> for systems that hold sensitive data or high-value accounts. That means every request gets verified, even if someone is already inside the network. So even if an attacker manages to slip in, they’re basically stuck — they can’t move around or escalate.</a:t>
            </a:r>
            <a:endParaRPr>
              <a:solidFill>
                <a:schemeClr val="dk1"/>
              </a:solidFill>
            </a:endParaRPr>
          </a:p>
          <a:p>
            <a:pPr indent="0" lvl="0" marL="0" rtl="0" algn="l">
              <a:spcBef>
                <a:spcPts val="1200"/>
              </a:spcBef>
              <a:spcAft>
                <a:spcPts val="0"/>
              </a:spcAft>
              <a:buNone/>
            </a:pPr>
            <a:r>
              <a:rPr lang="en" sz="1200">
                <a:solidFill>
                  <a:schemeClr val="dk1"/>
                </a:solidFill>
              </a:rPr>
              <a:t>Together, these two controls give the company strong protection with very little disruption to normal operations. It’s practical, realistic, and hits the highest-impact risks first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5bc1bd41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5bc1bd41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csrc.nist.gov/glossary/term/man_in_the_middle_attack" TargetMode="External"/><Relationship Id="rId4" Type="http://schemas.openxmlformats.org/officeDocument/2006/relationships/hyperlink" Target="https://awareforce.com/equifax-man-in-the-middle-attac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idx="1" type="subTitle"/>
          </p:nvPr>
        </p:nvSpPr>
        <p:spPr>
          <a:xfrm>
            <a:off x="1680302" y="3049450"/>
            <a:ext cx="5783400" cy="909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Group 38: Tate, Mateo, and Juan</a:t>
            </a:r>
            <a:endParaRPr/>
          </a:p>
        </p:txBody>
      </p:sp>
      <p:sp>
        <p:nvSpPr>
          <p:cNvPr id="64" name="Google Shape;64;p13"/>
          <p:cNvSpPr txBox="1"/>
          <p:nvPr>
            <p:ph type="ctrTitle"/>
          </p:nvPr>
        </p:nvSpPr>
        <p:spPr>
          <a:xfrm>
            <a:off x="1680300" y="870750"/>
            <a:ext cx="5783400" cy="1856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The Organizational Dangers of a Man in the Middle Attack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292600" y="1818600"/>
            <a:ext cx="4045200" cy="1506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What is a Man in the Middle (MitM) Attack?</a:t>
            </a:r>
            <a:endParaRPr/>
          </a:p>
        </p:txBody>
      </p:sp>
      <p:sp>
        <p:nvSpPr>
          <p:cNvPr id="70" name="Google Shape;70;p1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b="1" lang="en"/>
              <a:t>“A form of active wiretapping attack in which the attacker intercepts and selectively modifies communicated data to masquerade as one or more of the entities involved in a communication association.” - The National Institute of Standards and Technology</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What is a Man in the Middle (MitM) Attack?</a:t>
            </a:r>
            <a:endParaRPr/>
          </a:p>
        </p:txBody>
      </p:sp>
      <p:sp>
        <p:nvSpPr>
          <p:cNvPr id="76" name="Google Shape;76;p15"/>
          <p:cNvSpPr/>
          <p:nvPr/>
        </p:nvSpPr>
        <p:spPr>
          <a:xfrm>
            <a:off x="1565690" y="1413782"/>
            <a:ext cx="1446300" cy="1265700"/>
          </a:xfrm>
          <a:prstGeom prst="rect">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Client</a:t>
            </a:r>
            <a:endParaRPr>
              <a:latin typeface="Roboto"/>
              <a:ea typeface="Roboto"/>
              <a:cs typeface="Roboto"/>
              <a:sym typeface="Roboto"/>
            </a:endParaRPr>
          </a:p>
        </p:txBody>
      </p:sp>
      <p:sp>
        <p:nvSpPr>
          <p:cNvPr id="77" name="Google Shape;77;p15"/>
          <p:cNvSpPr/>
          <p:nvPr/>
        </p:nvSpPr>
        <p:spPr>
          <a:xfrm>
            <a:off x="6138390" y="1413782"/>
            <a:ext cx="1446300" cy="1265700"/>
          </a:xfrm>
          <a:prstGeom prst="rect">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Server</a:t>
            </a:r>
            <a:endParaRPr>
              <a:latin typeface="Roboto"/>
              <a:ea typeface="Roboto"/>
              <a:cs typeface="Roboto"/>
              <a:sym typeface="Roboto"/>
            </a:endParaRPr>
          </a:p>
        </p:txBody>
      </p:sp>
      <p:cxnSp>
        <p:nvCxnSpPr>
          <p:cNvPr id="78" name="Google Shape;78;p15"/>
          <p:cNvCxnSpPr>
            <a:endCxn id="77" idx="1"/>
          </p:cNvCxnSpPr>
          <p:nvPr/>
        </p:nvCxnSpPr>
        <p:spPr>
          <a:xfrm>
            <a:off x="3012090" y="2046632"/>
            <a:ext cx="3126300" cy="0"/>
          </a:xfrm>
          <a:prstGeom prst="straightConnector1">
            <a:avLst/>
          </a:prstGeom>
          <a:noFill/>
          <a:ln cap="flat" cmpd="sng" w="28575">
            <a:solidFill>
              <a:schemeClr val="accent4"/>
            </a:solidFill>
            <a:prstDash val="solid"/>
            <a:round/>
            <a:headEnd len="med" w="med" type="triangle"/>
            <a:tailEnd len="med" w="med" type="triangle"/>
          </a:ln>
        </p:spPr>
      </p:cxnSp>
      <p:sp>
        <p:nvSpPr>
          <p:cNvPr id="79" name="Google Shape;79;p15"/>
          <p:cNvSpPr txBox="1"/>
          <p:nvPr/>
        </p:nvSpPr>
        <p:spPr>
          <a:xfrm>
            <a:off x="1236450" y="3511000"/>
            <a:ext cx="6671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Safe, private flow of data between the Client and the Server </a:t>
            </a:r>
            <a:endParaRPr sz="18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What is a Man in the Middle (MitM) Attack?</a:t>
            </a:r>
            <a:endParaRPr/>
          </a:p>
        </p:txBody>
      </p:sp>
      <p:sp>
        <p:nvSpPr>
          <p:cNvPr id="85" name="Google Shape;85;p16"/>
          <p:cNvSpPr/>
          <p:nvPr/>
        </p:nvSpPr>
        <p:spPr>
          <a:xfrm>
            <a:off x="1562500" y="1413800"/>
            <a:ext cx="1446300" cy="1265700"/>
          </a:xfrm>
          <a:prstGeom prst="rect">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Client</a:t>
            </a:r>
            <a:endParaRPr>
              <a:latin typeface="Roboto"/>
              <a:ea typeface="Roboto"/>
              <a:cs typeface="Roboto"/>
              <a:sym typeface="Roboto"/>
            </a:endParaRPr>
          </a:p>
        </p:txBody>
      </p:sp>
      <p:sp>
        <p:nvSpPr>
          <p:cNvPr id="86" name="Google Shape;86;p16"/>
          <p:cNvSpPr/>
          <p:nvPr/>
        </p:nvSpPr>
        <p:spPr>
          <a:xfrm>
            <a:off x="6135200" y="1413800"/>
            <a:ext cx="1446300" cy="1265700"/>
          </a:xfrm>
          <a:prstGeom prst="rect">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Server</a:t>
            </a:r>
            <a:endParaRPr>
              <a:latin typeface="Roboto"/>
              <a:ea typeface="Roboto"/>
              <a:cs typeface="Roboto"/>
              <a:sym typeface="Roboto"/>
            </a:endParaRPr>
          </a:p>
        </p:txBody>
      </p:sp>
      <p:cxnSp>
        <p:nvCxnSpPr>
          <p:cNvPr id="87" name="Google Shape;87;p16"/>
          <p:cNvCxnSpPr>
            <a:endCxn id="86" idx="1"/>
          </p:cNvCxnSpPr>
          <p:nvPr/>
        </p:nvCxnSpPr>
        <p:spPr>
          <a:xfrm>
            <a:off x="3008900" y="2046650"/>
            <a:ext cx="3126300" cy="0"/>
          </a:xfrm>
          <a:prstGeom prst="straightConnector1">
            <a:avLst/>
          </a:prstGeom>
          <a:noFill/>
          <a:ln cap="flat" cmpd="sng" w="28575">
            <a:solidFill>
              <a:schemeClr val="lt2"/>
            </a:solidFill>
            <a:prstDash val="solid"/>
            <a:round/>
            <a:headEnd len="med" w="med" type="triangle"/>
            <a:tailEnd len="med" w="med" type="triangle"/>
          </a:ln>
        </p:spPr>
      </p:cxnSp>
      <p:sp>
        <p:nvSpPr>
          <p:cNvPr id="88" name="Google Shape;88;p16"/>
          <p:cNvSpPr txBox="1"/>
          <p:nvPr/>
        </p:nvSpPr>
        <p:spPr>
          <a:xfrm>
            <a:off x="0" y="4496325"/>
            <a:ext cx="91440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chemeClr val="dk1"/>
                </a:solidFill>
                <a:latin typeface="Roboto"/>
                <a:ea typeface="Roboto"/>
                <a:cs typeface="Roboto"/>
                <a:sym typeface="Roboto"/>
              </a:rPr>
              <a:t>An attacker </a:t>
            </a:r>
            <a:r>
              <a:rPr b="1" lang="en" sz="1700">
                <a:solidFill>
                  <a:schemeClr val="dk1"/>
                </a:solidFill>
                <a:latin typeface="Roboto"/>
                <a:ea typeface="Roboto"/>
                <a:cs typeface="Roboto"/>
                <a:sym typeface="Roboto"/>
              </a:rPr>
              <a:t>secretly</a:t>
            </a:r>
            <a:r>
              <a:rPr lang="en" sz="1700">
                <a:solidFill>
                  <a:schemeClr val="dk1"/>
                </a:solidFill>
                <a:latin typeface="Roboto"/>
                <a:ea typeface="Roboto"/>
                <a:cs typeface="Roboto"/>
                <a:sym typeface="Roboto"/>
              </a:rPr>
              <a:t> interposes themselves</a:t>
            </a:r>
            <a:endParaRPr sz="1700">
              <a:solidFill>
                <a:schemeClr val="dk1"/>
              </a:solidFill>
              <a:latin typeface="Roboto"/>
              <a:ea typeface="Roboto"/>
              <a:cs typeface="Roboto"/>
              <a:sym typeface="Roboto"/>
            </a:endParaRPr>
          </a:p>
        </p:txBody>
      </p:sp>
      <p:sp>
        <p:nvSpPr>
          <p:cNvPr id="89" name="Google Shape;89;p16"/>
          <p:cNvSpPr/>
          <p:nvPr/>
        </p:nvSpPr>
        <p:spPr>
          <a:xfrm>
            <a:off x="3848850" y="3140225"/>
            <a:ext cx="1446300" cy="1265700"/>
          </a:xfrm>
          <a:prstGeom prst="rect">
            <a:avLst/>
          </a:prstGeom>
          <a:solidFill>
            <a:srgbClr val="E06666"/>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Attacker</a:t>
            </a:r>
            <a:endParaRPr>
              <a:latin typeface="Roboto"/>
              <a:ea typeface="Roboto"/>
              <a:cs typeface="Roboto"/>
              <a:sym typeface="Roboto"/>
            </a:endParaRPr>
          </a:p>
        </p:txBody>
      </p:sp>
      <p:sp>
        <p:nvSpPr>
          <p:cNvPr id="90" name="Google Shape;90;p16"/>
          <p:cNvSpPr/>
          <p:nvPr/>
        </p:nvSpPr>
        <p:spPr>
          <a:xfrm>
            <a:off x="4097400" y="1621850"/>
            <a:ext cx="949200" cy="8496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1" name="Google Shape;91;p16"/>
          <p:cNvCxnSpPr>
            <a:stCxn id="85" idx="2"/>
            <a:endCxn id="89" idx="1"/>
          </p:cNvCxnSpPr>
          <p:nvPr/>
        </p:nvCxnSpPr>
        <p:spPr>
          <a:xfrm>
            <a:off x="2285650" y="2679500"/>
            <a:ext cx="1563300" cy="1093500"/>
          </a:xfrm>
          <a:prstGeom prst="straightConnector1">
            <a:avLst/>
          </a:prstGeom>
          <a:noFill/>
          <a:ln cap="flat" cmpd="sng" w="28575">
            <a:solidFill>
              <a:schemeClr val="accent5"/>
            </a:solidFill>
            <a:prstDash val="solid"/>
            <a:round/>
            <a:headEnd len="med" w="med" type="none"/>
            <a:tailEnd len="med" w="med" type="triangle"/>
          </a:ln>
        </p:spPr>
      </p:cxnSp>
      <p:cxnSp>
        <p:nvCxnSpPr>
          <p:cNvPr id="92" name="Google Shape;92;p16"/>
          <p:cNvCxnSpPr>
            <a:stCxn id="86" idx="2"/>
            <a:endCxn id="89" idx="3"/>
          </p:cNvCxnSpPr>
          <p:nvPr/>
        </p:nvCxnSpPr>
        <p:spPr>
          <a:xfrm flipH="1">
            <a:off x="5295050" y="2679500"/>
            <a:ext cx="1563300" cy="1093500"/>
          </a:xfrm>
          <a:prstGeom prst="straightConnector1">
            <a:avLst/>
          </a:prstGeom>
          <a:noFill/>
          <a:ln cap="flat" cmpd="sng" w="28575">
            <a:solidFill>
              <a:schemeClr val="accent5"/>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What is a Man in the Middle (MitM) Attack?</a:t>
            </a:r>
            <a:endParaRPr/>
          </a:p>
        </p:txBody>
      </p:sp>
      <p:sp>
        <p:nvSpPr>
          <p:cNvPr id="98" name="Google Shape;98;p17"/>
          <p:cNvSpPr/>
          <p:nvPr/>
        </p:nvSpPr>
        <p:spPr>
          <a:xfrm>
            <a:off x="1562500" y="1413800"/>
            <a:ext cx="1446300" cy="1265700"/>
          </a:xfrm>
          <a:prstGeom prst="rect">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Client</a:t>
            </a:r>
            <a:endParaRPr>
              <a:latin typeface="Roboto"/>
              <a:ea typeface="Roboto"/>
              <a:cs typeface="Roboto"/>
              <a:sym typeface="Roboto"/>
            </a:endParaRPr>
          </a:p>
        </p:txBody>
      </p:sp>
      <p:sp>
        <p:nvSpPr>
          <p:cNvPr id="99" name="Google Shape;99;p17"/>
          <p:cNvSpPr/>
          <p:nvPr/>
        </p:nvSpPr>
        <p:spPr>
          <a:xfrm>
            <a:off x="6135200" y="1413800"/>
            <a:ext cx="1446300" cy="1265700"/>
          </a:xfrm>
          <a:prstGeom prst="rect">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Server</a:t>
            </a:r>
            <a:endParaRPr>
              <a:latin typeface="Roboto"/>
              <a:ea typeface="Roboto"/>
              <a:cs typeface="Roboto"/>
              <a:sym typeface="Roboto"/>
            </a:endParaRPr>
          </a:p>
        </p:txBody>
      </p:sp>
      <p:cxnSp>
        <p:nvCxnSpPr>
          <p:cNvPr id="100" name="Google Shape;100;p17"/>
          <p:cNvCxnSpPr>
            <a:endCxn id="99" idx="1"/>
          </p:cNvCxnSpPr>
          <p:nvPr/>
        </p:nvCxnSpPr>
        <p:spPr>
          <a:xfrm>
            <a:off x="3008900" y="2046650"/>
            <a:ext cx="3126300" cy="0"/>
          </a:xfrm>
          <a:prstGeom prst="straightConnector1">
            <a:avLst/>
          </a:prstGeom>
          <a:noFill/>
          <a:ln cap="flat" cmpd="sng" w="28575">
            <a:solidFill>
              <a:schemeClr val="lt2"/>
            </a:solidFill>
            <a:prstDash val="solid"/>
            <a:round/>
            <a:headEnd len="med" w="med" type="triangle"/>
            <a:tailEnd len="med" w="med" type="triangle"/>
          </a:ln>
        </p:spPr>
      </p:cxnSp>
      <p:sp>
        <p:nvSpPr>
          <p:cNvPr id="101" name="Google Shape;101;p17"/>
          <p:cNvSpPr txBox="1"/>
          <p:nvPr/>
        </p:nvSpPr>
        <p:spPr>
          <a:xfrm>
            <a:off x="387900" y="4496325"/>
            <a:ext cx="8368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Once embedded, an attacker may take a number of passive or active actions</a:t>
            </a:r>
            <a:endParaRPr sz="1800">
              <a:solidFill>
                <a:schemeClr val="dk1"/>
              </a:solidFill>
              <a:latin typeface="Roboto"/>
              <a:ea typeface="Roboto"/>
              <a:cs typeface="Roboto"/>
              <a:sym typeface="Roboto"/>
            </a:endParaRPr>
          </a:p>
        </p:txBody>
      </p:sp>
      <p:sp>
        <p:nvSpPr>
          <p:cNvPr id="102" name="Google Shape;102;p17"/>
          <p:cNvSpPr/>
          <p:nvPr/>
        </p:nvSpPr>
        <p:spPr>
          <a:xfrm>
            <a:off x="3848850" y="3140225"/>
            <a:ext cx="1446300" cy="1265700"/>
          </a:xfrm>
          <a:prstGeom prst="rect">
            <a:avLst/>
          </a:prstGeom>
          <a:solidFill>
            <a:srgbClr val="E06666"/>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Attacker</a:t>
            </a:r>
            <a:endParaRPr>
              <a:latin typeface="Roboto"/>
              <a:ea typeface="Roboto"/>
              <a:cs typeface="Roboto"/>
              <a:sym typeface="Roboto"/>
            </a:endParaRPr>
          </a:p>
        </p:txBody>
      </p:sp>
      <p:cxnSp>
        <p:nvCxnSpPr>
          <p:cNvPr id="103" name="Google Shape;103;p17"/>
          <p:cNvCxnSpPr>
            <a:stCxn id="98" idx="2"/>
            <a:endCxn id="102" idx="1"/>
          </p:cNvCxnSpPr>
          <p:nvPr/>
        </p:nvCxnSpPr>
        <p:spPr>
          <a:xfrm>
            <a:off x="2285650" y="2679500"/>
            <a:ext cx="1563300" cy="1093500"/>
          </a:xfrm>
          <a:prstGeom prst="straightConnector1">
            <a:avLst/>
          </a:prstGeom>
          <a:noFill/>
          <a:ln cap="flat" cmpd="sng" w="28575">
            <a:solidFill>
              <a:schemeClr val="accent5"/>
            </a:solidFill>
            <a:prstDash val="solid"/>
            <a:round/>
            <a:headEnd len="med" w="med" type="none"/>
            <a:tailEnd len="med" w="med" type="triangle"/>
          </a:ln>
        </p:spPr>
      </p:cxnSp>
      <p:cxnSp>
        <p:nvCxnSpPr>
          <p:cNvPr id="104" name="Google Shape;104;p17"/>
          <p:cNvCxnSpPr>
            <a:stCxn id="99" idx="2"/>
            <a:endCxn id="102" idx="3"/>
          </p:cNvCxnSpPr>
          <p:nvPr/>
        </p:nvCxnSpPr>
        <p:spPr>
          <a:xfrm flipH="1">
            <a:off x="5295050" y="2679500"/>
            <a:ext cx="1563300" cy="1093500"/>
          </a:xfrm>
          <a:prstGeom prst="straightConnector1">
            <a:avLst/>
          </a:prstGeom>
          <a:noFill/>
          <a:ln cap="flat" cmpd="sng" w="28575">
            <a:solidFill>
              <a:schemeClr val="accent5"/>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387900" y="46537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Risks</a:t>
            </a:r>
            <a:endParaRPr/>
          </a:p>
        </p:txBody>
      </p:sp>
      <p:sp>
        <p:nvSpPr>
          <p:cNvPr id="110" name="Google Shape;110;p18"/>
          <p:cNvSpPr txBox="1"/>
          <p:nvPr>
            <p:ph idx="1" type="body"/>
          </p:nvPr>
        </p:nvSpPr>
        <p:spPr>
          <a:xfrm>
            <a:off x="387900" y="1475099"/>
            <a:ext cx="83682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Data Leaks</a:t>
            </a:r>
            <a:endParaRPr/>
          </a:p>
          <a:p>
            <a:pPr indent="-342900" lvl="0" marL="457200" rtl="0" algn="l">
              <a:spcBef>
                <a:spcPts val="0"/>
              </a:spcBef>
              <a:spcAft>
                <a:spcPts val="0"/>
              </a:spcAft>
              <a:buSzPts val="1800"/>
              <a:buChar char="●"/>
            </a:pPr>
            <a:r>
              <a:rPr lang="en"/>
              <a:t>Privacy Breach</a:t>
            </a:r>
            <a:endParaRPr/>
          </a:p>
          <a:p>
            <a:pPr indent="-342900" lvl="0" marL="457200" rtl="0" algn="l">
              <a:spcBef>
                <a:spcPts val="0"/>
              </a:spcBef>
              <a:spcAft>
                <a:spcPts val="0"/>
              </a:spcAft>
              <a:buSzPts val="1800"/>
              <a:buChar char="●"/>
            </a:pPr>
            <a:r>
              <a:rPr lang="en"/>
              <a:t>Open to further Cyberattacks</a:t>
            </a:r>
            <a:endParaRPr/>
          </a:p>
          <a:p>
            <a:pPr indent="-342900" lvl="0" marL="457200" rtl="0" algn="l">
              <a:spcBef>
                <a:spcPts val="0"/>
              </a:spcBef>
              <a:spcAft>
                <a:spcPts val="0"/>
              </a:spcAft>
              <a:buSzPts val="1800"/>
              <a:buChar char="●"/>
            </a:pPr>
            <a:r>
              <a:rPr lang="en"/>
              <a:t>Interception and Manipulation of Private Communication</a:t>
            </a:r>
            <a:endParaRPr/>
          </a:p>
        </p:txBody>
      </p:sp>
      <p:pic>
        <p:nvPicPr>
          <p:cNvPr id="111" name="Google Shape;111;p18"/>
          <p:cNvPicPr preferRelativeResize="0"/>
          <p:nvPr/>
        </p:nvPicPr>
        <p:blipFill rotWithShape="1">
          <a:blip r:embed="rId3">
            <a:alphaModFix/>
          </a:blip>
          <a:srcRect b="7261" l="0" r="0" t="0"/>
          <a:stretch/>
        </p:blipFill>
        <p:spPr>
          <a:xfrm>
            <a:off x="5995150" y="3339150"/>
            <a:ext cx="2411100" cy="1804350"/>
          </a:xfrm>
          <a:prstGeom prst="rect">
            <a:avLst/>
          </a:prstGeom>
          <a:noFill/>
          <a:ln>
            <a:noFill/>
          </a:ln>
        </p:spPr>
      </p:pic>
      <p:pic>
        <p:nvPicPr>
          <p:cNvPr id="112" name="Google Shape;112;p18"/>
          <p:cNvPicPr preferRelativeResize="0"/>
          <p:nvPr/>
        </p:nvPicPr>
        <p:blipFill>
          <a:blip r:embed="rId4">
            <a:alphaModFix/>
          </a:blip>
          <a:stretch>
            <a:fillRect/>
          </a:stretch>
        </p:blipFill>
        <p:spPr>
          <a:xfrm>
            <a:off x="0" y="3439825"/>
            <a:ext cx="2555525" cy="17036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2017 Equifax Data Breach</a:t>
            </a:r>
            <a:endParaRPr/>
          </a:p>
        </p:txBody>
      </p:sp>
      <p:sp>
        <p:nvSpPr>
          <p:cNvPr id="118" name="Google Shape;118;p1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Example of a Risk in regards to MitM Attacks</a:t>
            </a:r>
            <a:endParaRPr/>
          </a:p>
          <a:p>
            <a:pPr indent="-317500" lvl="1" marL="914400" rtl="0" algn="l">
              <a:spcBef>
                <a:spcPts val="0"/>
              </a:spcBef>
              <a:spcAft>
                <a:spcPts val="0"/>
              </a:spcAft>
              <a:buSzPts val="1400"/>
              <a:buChar char="○"/>
            </a:pPr>
            <a:r>
              <a:rPr lang="en"/>
              <a:t>Not a direct MitM Attack, but utilized elements of MitM</a:t>
            </a:r>
            <a:endParaRPr/>
          </a:p>
          <a:p>
            <a:pPr indent="-342900" lvl="0" marL="457200" rtl="0" algn="l">
              <a:spcBef>
                <a:spcPts val="0"/>
              </a:spcBef>
              <a:spcAft>
                <a:spcPts val="0"/>
              </a:spcAft>
              <a:buSzPts val="1800"/>
              <a:buChar char="●"/>
            </a:pPr>
            <a:r>
              <a:rPr lang="en"/>
              <a:t>Company spent hundreds of millions fixing their mistake</a:t>
            </a:r>
            <a:endParaRPr/>
          </a:p>
          <a:p>
            <a:pPr indent="-342900" lvl="0" marL="457200" rtl="0" algn="l">
              <a:spcBef>
                <a:spcPts val="0"/>
              </a:spcBef>
              <a:spcAft>
                <a:spcPts val="0"/>
              </a:spcAft>
              <a:buSzPts val="1800"/>
              <a:buChar char="●"/>
            </a:pPr>
            <a:r>
              <a:rPr lang="en"/>
              <a:t>145 Million people affected</a:t>
            </a:r>
            <a:endParaRPr/>
          </a:p>
          <a:p>
            <a:pPr indent="-342900" lvl="0" marL="457200" rtl="0" algn="l">
              <a:spcBef>
                <a:spcPts val="0"/>
              </a:spcBef>
              <a:spcAft>
                <a:spcPts val="0"/>
              </a:spcAft>
              <a:buSzPts val="1800"/>
              <a:buChar char="●"/>
            </a:pPr>
            <a:r>
              <a:rPr lang="en"/>
              <a:t>One of the biggest data leaks in US History</a:t>
            </a:r>
            <a:endParaRPr/>
          </a:p>
        </p:txBody>
      </p:sp>
      <p:pic>
        <p:nvPicPr>
          <p:cNvPr id="119" name="Google Shape;119;p19"/>
          <p:cNvPicPr preferRelativeResize="0"/>
          <p:nvPr/>
        </p:nvPicPr>
        <p:blipFill>
          <a:blip r:embed="rId3">
            <a:alphaModFix/>
          </a:blip>
          <a:stretch>
            <a:fillRect/>
          </a:stretch>
        </p:blipFill>
        <p:spPr>
          <a:xfrm>
            <a:off x="-12" y="3867150"/>
            <a:ext cx="3590925" cy="1276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2800">
                <a:latin typeface="Raleway Black"/>
                <a:ea typeface="Raleway Black"/>
                <a:cs typeface="Raleway Black"/>
                <a:sym typeface="Raleway Black"/>
              </a:rPr>
              <a:t>Why This Threat Matters to a Company</a:t>
            </a:r>
            <a:endParaRPr sz="2800">
              <a:latin typeface="Raleway Black"/>
              <a:ea typeface="Raleway Black"/>
              <a:cs typeface="Raleway Black"/>
              <a:sym typeface="Raleway Black"/>
            </a:endParaRPr>
          </a:p>
        </p:txBody>
      </p:sp>
      <p:sp>
        <p:nvSpPr>
          <p:cNvPr id="125" name="Google Shape;125;p20"/>
          <p:cNvSpPr txBox="1"/>
          <p:nvPr/>
        </p:nvSpPr>
        <p:spPr>
          <a:xfrm>
            <a:off x="1187550" y="1192513"/>
            <a:ext cx="6768900" cy="23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Poppins"/>
                <a:ea typeface="Poppins"/>
                <a:cs typeface="Poppins"/>
                <a:sym typeface="Poppins"/>
              </a:rPr>
              <a:t>What’s at stake for the business when attackers sit between your systems. </a:t>
            </a:r>
            <a:endParaRPr sz="1200">
              <a:solidFill>
                <a:schemeClr val="dk1"/>
              </a:solidFill>
              <a:latin typeface="Poppins"/>
              <a:ea typeface="Poppins"/>
              <a:cs typeface="Poppins"/>
              <a:sym typeface="Poppins"/>
            </a:endParaRPr>
          </a:p>
        </p:txBody>
      </p:sp>
      <p:sp>
        <p:nvSpPr>
          <p:cNvPr id="126" name="Google Shape;126;p20"/>
          <p:cNvSpPr txBox="1"/>
          <p:nvPr/>
        </p:nvSpPr>
        <p:spPr>
          <a:xfrm>
            <a:off x="6523675" y="3391150"/>
            <a:ext cx="1763100" cy="27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aleway Black"/>
                <a:ea typeface="Raleway Black"/>
                <a:cs typeface="Raleway Black"/>
                <a:sym typeface="Raleway Black"/>
              </a:rPr>
              <a:t>Bottom Line</a:t>
            </a:r>
            <a:endParaRPr sz="1800">
              <a:solidFill>
                <a:schemeClr val="dk1"/>
              </a:solidFill>
              <a:latin typeface="Raleway Black"/>
              <a:ea typeface="Raleway Black"/>
              <a:cs typeface="Raleway Black"/>
              <a:sym typeface="Raleway Black"/>
            </a:endParaRPr>
          </a:p>
        </p:txBody>
      </p:sp>
      <p:sp>
        <p:nvSpPr>
          <p:cNvPr id="127" name="Google Shape;127;p20"/>
          <p:cNvSpPr txBox="1"/>
          <p:nvPr/>
        </p:nvSpPr>
        <p:spPr>
          <a:xfrm>
            <a:off x="3526950" y="3391147"/>
            <a:ext cx="2137800" cy="27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aleway Black"/>
                <a:ea typeface="Raleway Black"/>
                <a:cs typeface="Raleway Black"/>
                <a:sym typeface="Raleway Black"/>
              </a:rPr>
              <a:t>Business Impact</a:t>
            </a:r>
            <a:endParaRPr sz="1800">
              <a:solidFill>
                <a:schemeClr val="dk1"/>
              </a:solidFill>
              <a:latin typeface="Raleway Black"/>
              <a:ea typeface="Raleway Black"/>
              <a:cs typeface="Raleway Black"/>
              <a:sym typeface="Raleway Black"/>
            </a:endParaRPr>
          </a:p>
        </p:txBody>
      </p:sp>
      <p:sp>
        <p:nvSpPr>
          <p:cNvPr id="128" name="Google Shape;128;p20"/>
          <p:cNvSpPr txBox="1"/>
          <p:nvPr/>
        </p:nvSpPr>
        <p:spPr>
          <a:xfrm>
            <a:off x="754325" y="3386450"/>
            <a:ext cx="1913700" cy="27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aleway Black"/>
                <a:ea typeface="Raleway Black"/>
                <a:cs typeface="Raleway Black"/>
                <a:sym typeface="Raleway Black"/>
              </a:rPr>
              <a:t>Assets at Risk</a:t>
            </a:r>
            <a:endParaRPr sz="1800">
              <a:solidFill>
                <a:schemeClr val="dk1"/>
              </a:solidFill>
              <a:latin typeface="Raleway Black"/>
              <a:ea typeface="Raleway Black"/>
              <a:cs typeface="Raleway Black"/>
              <a:sym typeface="Raleway Black"/>
            </a:endParaRPr>
          </a:p>
        </p:txBody>
      </p:sp>
      <p:sp>
        <p:nvSpPr>
          <p:cNvPr id="129" name="Google Shape;129;p20"/>
          <p:cNvSpPr txBox="1"/>
          <p:nvPr/>
        </p:nvSpPr>
        <p:spPr>
          <a:xfrm>
            <a:off x="513400" y="3748425"/>
            <a:ext cx="2451900" cy="88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Roboto"/>
                <a:ea typeface="Roboto"/>
                <a:cs typeface="Roboto"/>
                <a:sym typeface="Roboto"/>
              </a:rPr>
              <a:t>Passwords, session data, internal secrets</a:t>
            </a:r>
            <a:endParaRPr sz="1100">
              <a:solidFill>
                <a:schemeClr val="dk1"/>
              </a:solidFill>
              <a:latin typeface="Roboto"/>
              <a:ea typeface="Roboto"/>
              <a:cs typeface="Roboto"/>
              <a:sym typeface="Roboto"/>
            </a:endParaRPr>
          </a:p>
        </p:txBody>
      </p:sp>
      <p:sp>
        <p:nvSpPr>
          <p:cNvPr id="130" name="Google Shape;130;p20"/>
          <p:cNvSpPr txBox="1"/>
          <p:nvPr/>
        </p:nvSpPr>
        <p:spPr>
          <a:xfrm>
            <a:off x="3176850" y="3749675"/>
            <a:ext cx="2790300" cy="88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Roboto"/>
                <a:ea typeface="Roboto"/>
                <a:cs typeface="Roboto"/>
                <a:sym typeface="Roboto"/>
              </a:rPr>
              <a:t>Account takeover, fraud, regulatory fines</a:t>
            </a:r>
            <a:endParaRPr sz="1100">
              <a:solidFill>
                <a:schemeClr val="dk1"/>
              </a:solidFill>
              <a:latin typeface="Roboto"/>
              <a:ea typeface="Roboto"/>
              <a:cs typeface="Roboto"/>
              <a:sym typeface="Roboto"/>
            </a:endParaRPr>
          </a:p>
        </p:txBody>
      </p:sp>
      <p:sp>
        <p:nvSpPr>
          <p:cNvPr id="131" name="Google Shape;131;p20"/>
          <p:cNvSpPr txBox="1"/>
          <p:nvPr/>
        </p:nvSpPr>
        <p:spPr>
          <a:xfrm>
            <a:off x="5944150" y="3748425"/>
            <a:ext cx="2916900" cy="88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Roboto"/>
                <a:ea typeface="Roboto"/>
                <a:cs typeface="Roboto"/>
                <a:sym typeface="Roboto"/>
              </a:rPr>
              <a:t>Loss of customer trust demands immediate investment.</a:t>
            </a:r>
            <a:endParaRPr sz="1100">
              <a:solidFill>
                <a:schemeClr val="dk1"/>
              </a:solidFill>
              <a:latin typeface="Roboto"/>
              <a:ea typeface="Roboto"/>
              <a:cs typeface="Roboto"/>
              <a:sym typeface="Roboto"/>
            </a:endParaRPr>
          </a:p>
        </p:txBody>
      </p:sp>
      <p:pic>
        <p:nvPicPr>
          <p:cNvPr id="132" name="Google Shape;132;p20" title="Remove background project.png"/>
          <p:cNvPicPr preferRelativeResize="0"/>
          <p:nvPr/>
        </p:nvPicPr>
        <p:blipFill>
          <a:blip r:embed="rId3">
            <a:alphaModFix/>
          </a:blip>
          <a:stretch>
            <a:fillRect/>
          </a:stretch>
        </p:blipFill>
        <p:spPr>
          <a:xfrm>
            <a:off x="1237925" y="2031087"/>
            <a:ext cx="1002851" cy="1002851"/>
          </a:xfrm>
          <a:prstGeom prst="rect">
            <a:avLst/>
          </a:prstGeom>
          <a:noFill/>
          <a:ln>
            <a:noFill/>
          </a:ln>
        </p:spPr>
      </p:pic>
      <p:pic>
        <p:nvPicPr>
          <p:cNvPr id="133" name="Google Shape;133;p20" title="14113970 (1).png"/>
          <p:cNvPicPr preferRelativeResize="0"/>
          <p:nvPr/>
        </p:nvPicPr>
        <p:blipFill>
          <a:blip r:embed="rId4">
            <a:alphaModFix/>
          </a:blip>
          <a:stretch>
            <a:fillRect/>
          </a:stretch>
        </p:blipFill>
        <p:spPr>
          <a:xfrm>
            <a:off x="4068550" y="2061559"/>
            <a:ext cx="1054600" cy="1054600"/>
          </a:xfrm>
          <a:prstGeom prst="rect">
            <a:avLst/>
          </a:prstGeom>
          <a:noFill/>
          <a:ln>
            <a:noFill/>
          </a:ln>
        </p:spPr>
      </p:pic>
      <p:pic>
        <p:nvPicPr>
          <p:cNvPr id="134" name="Google Shape;134;p20" title="images (2) (1).png"/>
          <p:cNvPicPr preferRelativeResize="0"/>
          <p:nvPr/>
        </p:nvPicPr>
        <p:blipFill>
          <a:blip r:embed="rId5">
            <a:alphaModFix/>
          </a:blip>
          <a:stretch>
            <a:fillRect/>
          </a:stretch>
        </p:blipFill>
        <p:spPr>
          <a:xfrm>
            <a:off x="6755000" y="1987500"/>
            <a:ext cx="1201450" cy="1201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Raleway Black"/>
                <a:ea typeface="Raleway Black"/>
                <a:cs typeface="Raleway Black"/>
                <a:sym typeface="Raleway Black"/>
              </a:rPr>
              <a:t>Mitigation: </a:t>
            </a:r>
            <a:endParaRPr>
              <a:latin typeface="Raleway Black"/>
              <a:ea typeface="Raleway Black"/>
              <a:cs typeface="Raleway Black"/>
              <a:sym typeface="Raleway Black"/>
            </a:endParaRPr>
          </a:p>
        </p:txBody>
      </p:sp>
      <p:sp>
        <p:nvSpPr>
          <p:cNvPr id="140" name="Google Shape;140;p21"/>
          <p:cNvSpPr txBox="1"/>
          <p:nvPr>
            <p:ph idx="1" type="body"/>
          </p:nvPr>
        </p:nvSpPr>
        <p:spPr>
          <a:xfrm>
            <a:off x="387900" y="1550899"/>
            <a:ext cx="8368200" cy="473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TLS Everywhere</a:t>
            </a:r>
            <a:endParaRPr/>
          </a:p>
        </p:txBody>
      </p:sp>
      <p:sp>
        <p:nvSpPr>
          <p:cNvPr id="141" name="Google Shape;141;p21"/>
          <p:cNvSpPr txBox="1"/>
          <p:nvPr>
            <p:ph idx="1" type="body"/>
          </p:nvPr>
        </p:nvSpPr>
        <p:spPr>
          <a:xfrm>
            <a:off x="401992" y="1999403"/>
            <a:ext cx="8368200" cy="3585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018"/>
              <a:buNone/>
            </a:pPr>
            <a:r>
              <a:rPr lang="en" sz="1002"/>
              <a:t>The industry standard for </a:t>
            </a:r>
            <a:r>
              <a:rPr lang="en" sz="1002"/>
              <a:t>encrypting all web communication.</a:t>
            </a:r>
            <a:endParaRPr sz="1002"/>
          </a:p>
        </p:txBody>
      </p:sp>
      <p:sp>
        <p:nvSpPr>
          <p:cNvPr id="142" name="Google Shape;142;p21"/>
          <p:cNvSpPr txBox="1"/>
          <p:nvPr/>
        </p:nvSpPr>
        <p:spPr>
          <a:xfrm>
            <a:off x="387900" y="2710325"/>
            <a:ext cx="3443100" cy="18837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Encrypts all communication</a:t>
            </a:r>
            <a:br>
              <a:rPr lang="en" sz="1200">
                <a:solidFill>
                  <a:schemeClr val="dk1"/>
                </a:solidFill>
                <a:latin typeface="Poppins"/>
                <a:ea typeface="Poppins"/>
                <a:cs typeface="Poppins"/>
                <a:sym typeface="Poppins"/>
              </a:rPr>
            </a:br>
            <a:endParaRPr sz="1200">
              <a:solidFill>
                <a:schemeClr val="dk1"/>
              </a:solidFill>
              <a:latin typeface="Poppins"/>
              <a:ea typeface="Poppins"/>
              <a:cs typeface="Poppins"/>
              <a:sym typeface="Poppins"/>
            </a:endParaRPr>
          </a:p>
          <a:p>
            <a:pPr indent="-304800" lvl="0" marL="457200" rtl="0" algn="l">
              <a:lnSpc>
                <a:spcPct val="150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Prevents attackers from reading intercepted data. </a:t>
            </a:r>
            <a:br>
              <a:rPr lang="en" sz="1200">
                <a:solidFill>
                  <a:schemeClr val="dk1"/>
                </a:solidFill>
                <a:latin typeface="Poppins"/>
                <a:ea typeface="Poppins"/>
                <a:cs typeface="Poppins"/>
                <a:sym typeface="Poppins"/>
              </a:rPr>
            </a:br>
            <a:endParaRPr sz="1200">
              <a:solidFill>
                <a:schemeClr val="dk1"/>
              </a:solidFill>
              <a:latin typeface="Poppins"/>
              <a:ea typeface="Poppins"/>
              <a:cs typeface="Poppins"/>
              <a:sym typeface="Poppins"/>
            </a:endParaRPr>
          </a:p>
          <a:p>
            <a:pPr indent="-304800" lvl="0" marL="457200" rtl="0" algn="l">
              <a:lnSpc>
                <a:spcPct val="150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Verifies the server’s </a:t>
            </a:r>
            <a:r>
              <a:rPr lang="en" sz="1200">
                <a:solidFill>
                  <a:schemeClr val="dk1"/>
                </a:solidFill>
                <a:latin typeface="Poppins"/>
                <a:ea typeface="Poppins"/>
                <a:cs typeface="Poppins"/>
                <a:sym typeface="Poppins"/>
              </a:rPr>
              <a:t>identity</a:t>
            </a:r>
            <a:r>
              <a:rPr lang="en"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p:txBody>
      </p:sp>
      <p:sp>
        <p:nvSpPr>
          <p:cNvPr id="143" name="Google Shape;143;p21"/>
          <p:cNvSpPr txBox="1"/>
          <p:nvPr/>
        </p:nvSpPr>
        <p:spPr>
          <a:xfrm>
            <a:off x="6228643" y="2257038"/>
            <a:ext cx="20574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Raleway"/>
                <a:ea typeface="Raleway"/>
                <a:cs typeface="Raleway"/>
                <a:sym typeface="Raleway"/>
              </a:rPr>
              <a:t>Postcard</a:t>
            </a:r>
            <a:endParaRPr b="1" sz="1800">
              <a:solidFill>
                <a:schemeClr val="dk1"/>
              </a:solidFill>
              <a:latin typeface="Raleway"/>
              <a:ea typeface="Raleway"/>
              <a:cs typeface="Raleway"/>
              <a:sym typeface="Raleway"/>
            </a:endParaRPr>
          </a:p>
        </p:txBody>
      </p:sp>
      <p:sp>
        <p:nvSpPr>
          <p:cNvPr id="144" name="Google Shape;144;p21"/>
          <p:cNvSpPr txBox="1"/>
          <p:nvPr/>
        </p:nvSpPr>
        <p:spPr>
          <a:xfrm>
            <a:off x="6244750" y="2540550"/>
            <a:ext cx="2057400" cy="314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Anyone can read</a:t>
            </a:r>
            <a:endParaRPr sz="1200">
              <a:solidFill>
                <a:schemeClr val="dk1"/>
              </a:solidFill>
              <a:latin typeface="Poppins"/>
              <a:ea typeface="Poppins"/>
              <a:cs typeface="Poppins"/>
              <a:sym typeface="Poppins"/>
            </a:endParaRPr>
          </a:p>
        </p:txBody>
      </p:sp>
      <p:cxnSp>
        <p:nvCxnSpPr>
          <p:cNvPr id="145" name="Google Shape;145;p21"/>
          <p:cNvCxnSpPr/>
          <p:nvPr/>
        </p:nvCxnSpPr>
        <p:spPr>
          <a:xfrm>
            <a:off x="6263562" y="3043275"/>
            <a:ext cx="1310700" cy="0"/>
          </a:xfrm>
          <a:prstGeom prst="straightConnector1">
            <a:avLst/>
          </a:prstGeom>
          <a:noFill/>
          <a:ln cap="flat" cmpd="sng" w="28575">
            <a:solidFill>
              <a:srgbClr val="000000"/>
            </a:solidFill>
            <a:prstDash val="solid"/>
            <a:round/>
            <a:headEnd len="med" w="med" type="none"/>
            <a:tailEnd len="med" w="med" type="none"/>
          </a:ln>
        </p:spPr>
      </p:cxnSp>
      <p:sp>
        <p:nvSpPr>
          <p:cNvPr id="146" name="Google Shape;146;p21"/>
          <p:cNvSpPr txBox="1"/>
          <p:nvPr/>
        </p:nvSpPr>
        <p:spPr>
          <a:xfrm>
            <a:off x="6263550" y="3494825"/>
            <a:ext cx="2610000" cy="314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Only the intended recipient can </a:t>
            </a:r>
            <a:endParaRPr sz="1200">
              <a:solidFill>
                <a:schemeClr val="dk1"/>
              </a:solidFill>
              <a:latin typeface="Poppins"/>
              <a:ea typeface="Poppins"/>
              <a:cs typeface="Poppins"/>
              <a:sym typeface="Poppins"/>
            </a:endParaRPr>
          </a:p>
        </p:txBody>
      </p:sp>
      <p:sp>
        <p:nvSpPr>
          <p:cNvPr id="147" name="Google Shape;147;p21"/>
          <p:cNvSpPr txBox="1"/>
          <p:nvPr/>
        </p:nvSpPr>
        <p:spPr>
          <a:xfrm>
            <a:off x="6244750" y="3180125"/>
            <a:ext cx="20574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Raleway"/>
                <a:ea typeface="Raleway"/>
                <a:cs typeface="Raleway"/>
                <a:sym typeface="Raleway"/>
              </a:rPr>
              <a:t>Sealed Envelope</a:t>
            </a:r>
            <a:endParaRPr b="1" sz="1800">
              <a:solidFill>
                <a:schemeClr val="dk1"/>
              </a:solidFill>
              <a:latin typeface="Raleway"/>
              <a:ea typeface="Raleway"/>
              <a:cs typeface="Raleway"/>
              <a:sym typeface="Raleway"/>
            </a:endParaRPr>
          </a:p>
        </p:txBody>
      </p:sp>
      <p:pic>
        <p:nvPicPr>
          <p:cNvPr id="148" name="Google Shape;148;p21" title="f692f7af-29db-45de-9d18-bdfc8e5a385d.png"/>
          <p:cNvPicPr preferRelativeResize="0"/>
          <p:nvPr/>
        </p:nvPicPr>
        <p:blipFill>
          <a:blip r:embed="rId3">
            <a:alphaModFix/>
          </a:blip>
          <a:stretch>
            <a:fillRect/>
          </a:stretch>
        </p:blipFill>
        <p:spPr>
          <a:xfrm>
            <a:off x="4618250" y="349653"/>
            <a:ext cx="2092843" cy="1888879"/>
          </a:xfrm>
          <a:prstGeom prst="rect">
            <a:avLst/>
          </a:prstGeom>
          <a:noFill/>
          <a:ln>
            <a:noFill/>
          </a:ln>
        </p:spPr>
      </p:pic>
      <p:pic>
        <p:nvPicPr>
          <p:cNvPr id="149" name="Google Shape;149;p21" title="AdobeStock_1707071556.png"/>
          <p:cNvPicPr preferRelativeResize="0"/>
          <p:nvPr/>
        </p:nvPicPr>
        <p:blipFill>
          <a:blip r:embed="rId4">
            <a:alphaModFix/>
          </a:blip>
          <a:stretch>
            <a:fillRect/>
          </a:stretch>
        </p:blipFill>
        <p:spPr>
          <a:xfrm>
            <a:off x="3292125" y="2540550"/>
            <a:ext cx="2870359" cy="15655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Raleway Black"/>
                <a:ea typeface="Raleway Black"/>
                <a:cs typeface="Raleway Black"/>
                <a:sym typeface="Raleway Black"/>
              </a:rPr>
              <a:t>Mitigation</a:t>
            </a:r>
            <a:r>
              <a:rPr lang="en">
                <a:latin typeface="Raleway Black"/>
                <a:ea typeface="Raleway Black"/>
                <a:cs typeface="Raleway Black"/>
                <a:sym typeface="Raleway Black"/>
              </a:rPr>
              <a:t>: </a:t>
            </a:r>
            <a:endParaRPr>
              <a:latin typeface="Raleway Black"/>
              <a:ea typeface="Raleway Black"/>
              <a:cs typeface="Raleway Black"/>
              <a:sym typeface="Raleway Black"/>
            </a:endParaRPr>
          </a:p>
        </p:txBody>
      </p:sp>
      <p:sp>
        <p:nvSpPr>
          <p:cNvPr id="155" name="Google Shape;155;p22"/>
          <p:cNvSpPr txBox="1"/>
          <p:nvPr/>
        </p:nvSpPr>
        <p:spPr>
          <a:xfrm>
            <a:off x="387900" y="3041875"/>
            <a:ext cx="3567300" cy="13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A security model that verifies every user, device, and request. No automatic trust. </a:t>
            </a:r>
            <a:endParaRPr sz="1200">
              <a:solidFill>
                <a:schemeClr val="dk1"/>
              </a:solidFill>
              <a:latin typeface="Poppins"/>
              <a:ea typeface="Poppins"/>
              <a:cs typeface="Poppins"/>
              <a:sym typeface="Poppins"/>
            </a:endParaRPr>
          </a:p>
        </p:txBody>
      </p:sp>
      <p:sp>
        <p:nvSpPr>
          <p:cNvPr id="156" name="Google Shape;156;p22"/>
          <p:cNvSpPr txBox="1"/>
          <p:nvPr/>
        </p:nvSpPr>
        <p:spPr>
          <a:xfrm>
            <a:off x="3526075" y="1594025"/>
            <a:ext cx="2461800" cy="5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Poppins Black"/>
                <a:ea typeface="Poppins Black"/>
                <a:cs typeface="Poppins Black"/>
                <a:sym typeface="Poppins Black"/>
              </a:rPr>
              <a:t>Zero Trust Access</a:t>
            </a:r>
            <a:endParaRPr sz="1800">
              <a:solidFill>
                <a:schemeClr val="dk1"/>
              </a:solidFill>
              <a:latin typeface="Poppins Black"/>
              <a:ea typeface="Poppins Black"/>
              <a:cs typeface="Poppins Black"/>
              <a:sym typeface="Poppins Black"/>
            </a:endParaRPr>
          </a:p>
        </p:txBody>
      </p:sp>
      <p:sp>
        <p:nvSpPr>
          <p:cNvPr id="157" name="Google Shape;157;p22"/>
          <p:cNvSpPr txBox="1"/>
          <p:nvPr/>
        </p:nvSpPr>
        <p:spPr>
          <a:xfrm>
            <a:off x="5161225" y="2713050"/>
            <a:ext cx="2703900" cy="32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Poppins"/>
                <a:ea typeface="Poppins"/>
                <a:cs typeface="Poppins"/>
                <a:sym typeface="Poppins"/>
              </a:rPr>
              <a:t>No “trusted” internal network</a:t>
            </a:r>
            <a:endParaRPr sz="1300">
              <a:solidFill>
                <a:schemeClr val="dk1"/>
              </a:solidFill>
              <a:latin typeface="Poppins"/>
              <a:ea typeface="Poppins"/>
              <a:cs typeface="Poppins"/>
              <a:sym typeface="Poppins"/>
            </a:endParaRPr>
          </a:p>
        </p:txBody>
      </p:sp>
      <p:sp>
        <p:nvSpPr>
          <p:cNvPr id="158" name="Google Shape;158;p22"/>
          <p:cNvSpPr txBox="1"/>
          <p:nvPr/>
        </p:nvSpPr>
        <p:spPr>
          <a:xfrm>
            <a:off x="5137123" y="3294788"/>
            <a:ext cx="2703900" cy="32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Poppins"/>
                <a:ea typeface="Poppins"/>
                <a:cs typeface="Poppins"/>
                <a:sym typeface="Poppins"/>
              </a:rPr>
              <a:t>Every request is authenticated</a:t>
            </a:r>
            <a:endParaRPr sz="1300">
              <a:solidFill>
                <a:schemeClr val="dk1"/>
              </a:solidFill>
              <a:latin typeface="Poppins"/>
              <a:ea typeface="Poppins"/>
              <a:cs typeface="Poppins"/>
              <a:sym typeface="Poppins"/>
            </a:endParaRPr>
          </a:p>
        </p:txBody>
      </p:sp>
      <p:sp>
        <p:nvSpPr>
          <p:cNvPr id="159" name="Google Shape;159;p22"/>
          <p:cNvSpPr txBox="1"/>
          <p:nvPr/>
        </p:nvSpPr>
        <p:spPr>
          <a:xfrm>
            <a:off x="5161225" y="3876550"/>
            <a:ext cx="2703900" cy="32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Poppins"/>
                <a:ea typeface="Poppins"/>
                <a:cs typeface="Poppins"/>
                <a:sym typeface="Poppins"/>
              </a:rPr>
              <a:t>Blocks attackers even if they’re inside the network</a:t>
            </a:r>
            <a:endParaRPr sz="1300">
              <a:solidFill>
                <a:schemeClr val="dk1"/>
              </a:solidFill>
              <a:latin typeface="Poppins"/>
              <a:ea typeface="Poppins"/>
              <a:cs typeface="Poppins"/>
              <a:sym typeface="Poppins"/>
            </a:endParaRPr>
          </a:p>
        </p:txBody>
      </p:sp>
      <p:pic>
        <p:nvPicPr>
          <p:cNvPr id="160" name="Google Shape;160;p22" title="zero-trust (2).png"/>
          <p:cNvPicPr preferRelativeResize="0"/>
          <p:nvPr/>
        </p:nvPicPr>
        <p:blipFill>
          <a:blip r:embed="rId3">
            <a:alphaModFix/>
          </a:blip>
          <a:stretch>
            <a:fillRect/>
          </a:stretch>
        </p:blipFill>
        <p:spPr>
          <a:xfrm>
            <a:off x="350200" y="1176750"/>
            <a:ext cx="3567299" cy="17836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334425" y="240575"/>
            <a:ext cx="8368200" cy="595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Raleway Black"/>
                <a:ea typeface="Raleway Black"/>
                <a:cs typeface="Raleway Black"/>
                <a:sym typeface="Raleway Black"/>
              </a:rPr>
              <a:t>How MitM Gets Blocked</a:t>
            </a:r>
            <a:endParaRPr>
              <a:latin typeface="Raleway Black"/>
              <a:ea typeface="Raleway Black"/>
              <a:cs typeface="Raleway Black"/>
              <a:sym typeface="Raleway Black"/>
            </a:endParaRPr>
          </a:p>
        </p:txBody>
      </p:sp>
      <p:sp>
        <p:nvSpPr>
          <p:cNvPr id="166" name="Google Shape;166;p23"/>
          <p:cNvSpPr txBox="1"/>
          <p:nvPr/>
        </p:nvSpPr>
        <p:spPr>
          <a:xfrm>
            <a:off x="906750" y="1010050"/>
            <a:ext cx="17997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Poppins"/>
                <a:ea typeface="Poppins"/>
                <a:cs typeface="Poppins"/>
                <a:sym typeface="Poppins"/>
              </a:rPr>
              <a:t>MitM Packet Capture</a:t>
            </a:r>
            <a:endParaRPr sz="1100">
              <a:solidFill>
                <a:schemeClr val="dk1"/>
              </a:solidFill>
              <a:latin typeface="Poppins"/>
              <a:ea typeface="Poppins"/>
              <a:cs typeface="Poppins"/>
              <a:sym typeface="Poppins"/>
            </a:endParaRPr>
          </a:p>
        </p:txBody>
      </p:sp>
      <p:sp>
        <p:nvSpPr>
          <p:cNvPr id="167" name="Google Shape;167;p23"/>
          <p:cNvSpPr txBox="1"/>
          <p:nvPr/>
        </p:nvSpPr>
        <p:spPr>
          <a:xfrm>
            <a:off x="794450" y="3161550"/>
            <a:ext cx="17997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Poppins"/>
                <a:ea typeface="Poppins"/>
                <a:cs typeface="Poppins"/>
                <a:sym typeface="Poppins"/>
              </a:rPr>
              <a:t>Unencrypted Traffic</a:t>
            </a:r>
            <a:endParaRPr sz="1100">
              <a:solidFill>
                <a:schemeClr val="dk1"/>
              </a:solidFill>
              <a:latin typeface="Poppins"/>
              <a:ea typeface="Poppins"/>
              <a:cs typeface="Poppins"/>
              <a:sym typeface="Poppins"/>
            </a:endParaRPr>
          </a:p>
        </p:txBody>
      </p:sp>
      <p:sp>
        <p:nvSpPr>
          <p:cNvPr id="168" name="Google Shape;168;p23"/>
          <p:cNvSpPr txBox="1"/>
          <p:nvPr/>
        </p:nvSpPr>
        <p:spPr>
          <a:xfrm>
            <a:off x="6417700" y="684525"/>
            <a:ext cx="1799700" cy="23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Poppins"/>
                <a:ea typeface="Poppins"/>
                <a:cs typeface="Poppins"/>
                <a:sym typeface="Poppins"/>
              </a:rPr>
              <a:t>TLS Packet</a:t>
            </a:r>
            <a:endParaRPr sz="1100">
              <a:solidFill>
                <a:schemeClr val="dk1"/>
              </a:solidFill>
              <a:latin typeface="Poppins"/>
              <a:ea typeface="Poppins"/>
              <a:cs typeface="Poppins"/>
              <a:sym typeface="Poppins"/>
            </a:endParaRPr>
          </a:p>
        </p:txBody>
      </p:sp>
      <p:sp>
        <p:nvSpPr>
          <p:cNvPr id="169" name="Google Shape;169;p23"/>
          <p:cNvSpPr txBox="1"/>
          <p:nvPr/>
        </p:nvSpPr>
        <p:spPr>
          <a:xfrm>
            <a:off x="6417700" y="2819275"/>
            <a:ext cx="1799700" cy="23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Poppins"/>
                <a:ea typeface="Poppins"/>
                <a:cs typeface="Poppins"/>
                <a:sym typeface="Poppins"/>
              </a:rPr>
              <a:t>Encrypted Traffic</a:t>
            </a:r>
            <a:endParaRPr sz="1100">
              <a:solidFill>
                <a:schemeClr val="dk1"/>
              </a:solidFill>
              <a:latin typeface="Poppins"/>
              <a:ea typeface="Poppins"/>
              <a:cs typeface="Poppins"/>
              <a:sym typeface="Poppins"/>
            </a:endParaRPr>
          </a:p>
        </p:txBody>
      </p:sp>
      <p:pic>
        <p:nvPicPr>
          <p:cNvPr id="170" name="Google Shape;170;p23" title="download (2).png"/>
          <p:cNvPicPr preferRelativeResize="0"/>
          <p:nvPr/>
        </p:nvPicPr>
        <p:blipFill>
          <a:blip r:embed="rId3">
            <a:alphaModFix/>
          </a:blip>
          <a:stretch>
            <a:fillRect/>
          </a:stretch>
        </p:blipFill>
        <p:spPr>
          <a:xfrm>
            <a:off x="396888" y="3328938"/>
            <a:ext cx="2819400" cy="1619250"/>
          </a:xfrm>
          <a:prstGeom prst="rect">
            <a:avLst/>
          </a:prstGeom>
          <a:noFill/>
          <a:ln>
            <a:noFill/>
          </a:ln>
        </p:spPr>
      </p:pic>
      <p:pic>
        <p:nvPicPr>
          <p:cNvPr id="171" name="Google Shape;171;p23" title="encryption-352983 (1).png"/>
          <p:cNvPicPr preferRelativeResize="0"/>
          <p:nvPr/>
        </p:nvPicPr>
        <p:blipFill>
          <a:blip r:embed="rId4">
            <a:alphaModFix/>
          </a:blip>
          <a:stretch>
            <a:fillRect/>
          </a:stretch>
        </p:blipFill>
        <p:spPr>
          <a:xfrm>
            <a:off x="6478913" y="3299937"/>
            <a:ext cx="1677274" cy="1677274"/>
          </a:xfrm>
          <a:prstGeom prst="rect">
            <a:avLst/>
          </a:prstGeom>
          <a:noFill/>
          <a:ln>
            <a:noFill/>
          </a:ln>
        </p:spPr>
      </p:pic>
      <p:pic>
        <p:nvPicPr>
          <p:cNvPr id="172" name="Google Shape;172;p23" title="mitmone (1).png"/>
          <p:cNvPicPr preferRelativeResize="0"/>
          <p:nvPr/>
        </p:nvPicPr>
        <p:blipFill>
          <a:blip r:embed="rId5">
            <a:alphaModFix/>
          </a:blip>
          <a:stretch>
            <a:fillRect/>
          </a:stretch>
        </p:blipFill>
        <p:spPr>
          <a:xfrm>
            <a:off x="396895" y="1352325"/>
            <a:ext cx="2594805" cy="1700051"/>
          </a:xfrm>
          <a:prstGeom prst="rect">
            <a:avLst/>
          </a:prstGeom>
          <a:noFill/>
          <a:ln>
            <a:noFill/>
          </a:ln>
        </p:spPr>
      </p:pic>
      <p:pic>
        <p:nvPicPr>
          <p:cNvPr id="173" name="Google Shape;173;p23" title="images (1).png"/>
          <p:cNvPicPr preferRelativeResize="0"/>
          <p:nvPr/>
        </p:nvPicPr>
        <p:blipFill>
          <a:blip r:embed="rId6">
            <a:alphaModFix/>
          </a:blip>
          <a:stretch>
            <a:fillRect/>
          </a:stretch>
        </p:blipFill>
        <p:spPr>
          <a:xfrm>
            <a:off x="6537972" y="1012600"/>
            <a:ext cx="1559150" cy="1559150"/>
          </a:xfrm>
          <a:prstGeom prst="rect">
            <a:avLst/>
          </a:prstGeom>
          <a:noFill/>
          <a:ln>
            <a:noFill/>
          </a:ln>
        </p:spPr>
      </p:pic>
      <p:sp>
        <p:nvSpPr>
          <p:cNvPr id="174" name="Google Shape;174;p23"/>
          <p:cNvSpPr txBox="1"/>
          <p:nvPr/>
        </p:nvSpPr>
        <p:spPr>
          <a:xfrm>
            <a:off x="2896500" y="1012600"/>
            <a:ext cx="2139000" cy="17112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Attacker can read everything</a:t>
            </a:r>
            <a:br>
              <a:rPr lang="en" sz="1100">
                <a:solidFill>
                  <a:schemeClr val="dk1"/>
                </a:solidFill>
                <a:latin typeface="Poppins"/>
                <a:ea typeface="Poppins"/>
                <a:cs typeface="Poppins"/>
                <a:sym typeface="Poppins"/>
              </a:rPr>
            </a:br>
            <a:endParaRPr sz="1100">
              <a:solidFill>
                <a:schemeClr val="dk1"/>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Passwords + session data exposed</a:t>
            </a:r>
            <a:br>
              <a:rPr lang="en" sz="1100">
                <a:solidFill>
                  <a:schemeClr val="dk1"/>
                </a:solidFill>
                <a:latin typeface="Poppins"/>
                <a:ea typeface="Poppins"/>
                <a:cs typeface="Poppins"/>
                <a:sym typeface="Poppins"/>
              </a:rPr>
            </a:br>
            <a:endParaRPr sz="1100">
              <a:solidFill>
                <a:schemeClr val="dk1"/>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User has no idea anything is happening</a:t>
            </a:r>
            <a:endParaRPr sz="1100">
              <a:solidFill>
                <a:schemeClr val="dk1"/>
              </a:solidFill>
              <a:latin typeface="Poppins"/>
              <a:ea typeface="Poppins"/>
              <a:cs typeface="Poppins"/>
              <a:sym typeface="Poppins"/>
            </a:endParaRPr>
          </a:p>
          <a:p>
            <a:pPr indent="0" lvl="0" marL="0" rtl="0" algn="l">
              <a:spcBef>
                <a:spcPts val="0"/>
              </a:spcBef>
              <a:spcAft>
                <a:spcPts val="0"/>
              </a:spcAft>
              <a:buNone/>
            </a:pPr>
            <a:r>
              <a:t/>
            </a:r>
            <a:endParaRPr sz="1100">
              <a:solidFill>
                <a:schemeClr val="dk1"/>
              </a:solidFill>
              <a:latin typeface="Poppins"/>
              <a:ea typeface="Poppins"/>
              <a:cs typeface="Poppins"/>
              <a:sym typeface="Poppins"/>
            </a:endParaRPr>
          </a:p>
        </p:txBody>
      </p:sp>
      <p:sp>
        <p:nvSpPr>
          <p:cNvPr id="175" name="Google Shape;175;p23"/>
          <p:cNvSpPr txBox="1"/>
          <p:nvPr/>
        </p:nvSpPr>
        <p:spPr>
          <a:xfrm>
            <a:off x="3456813" y="3538275"/>
            <a:ext cx="2781600" cy="12006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Attacker still sees the packets</a:t>
            </a:r>
            <a:br>
              <a:rPr lang="en" sz="1100">
                <a:solidFill>
                  <a:schemeClr val="dk1"/>
                </a:solidFill>
                <a:latin typeface="Poppins"/>
                <a:ea typeface="Poppins"/>
                <a:cs typeface="Poppins"/>
                <a:sym typeface="Poppins"/>
              </a:rPr>
            </a:br>
            <a:endParaRPr sz="1100">
              <a:solidFill>
                <a:schemeClr val="dk1"/>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But contents are encrypted</a:t>
            </a:r>
            <a:br>
              <a:rPr lang="en" sz="1100">
                <a:solidFill>
                  <a:schemeClr val="dk1"/>
                </a:solidFill>
                <a:latin typeface="Poppins"/>
                <a:ea typeface="Poppins"/>
                <a:cs typeface="Poppins"/>
                <a:sym typeface="Poppins"/>
              </a:rPr>
            </a:br>
            <a:endParaRPr sz="1100">
              <a:solidFill>
                <a:schemeClr val="dk1"/>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Data becomes unreadable and useless</a:t>
            </a:r>
            <a:endParaRPr sz="1100">
              <a:solidFill>
                <a:schemeClr val="dk1"/>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Raleway Black"/>
                <a:ea typeface="Raleway Black"/>
                <a:cs typeface="Raleway Black"/>
                <a:sym typeface="Raleway Black"/>
              </a:rPr>
              <a:t>Our </a:t>
            </a:r>
            <a:r>
              <a:rPr lang="en">
                <a:latin typeface="Raleway Black"/>
                <a:ea typeface="Raleway Black"/>
                <a:cs typeface="Raleway Black"/>
                <a:sym typeface="Raleway Black"/>
              </a:rPr>
              <a:t>Recommendation</a:t>
            </a:r>
            <a:endParaRPr>
              <a:latin typeface="Raleway Black"/>
              <a:ea typeface="Raleway Black"/>
              <a:cs typeface="Raleway Black"/>
              <a:sym typeface="Raleway Black"/>
            </a:endParaRPr>
          </a:p>
        </p:txBody>
      </p:sp>
      <p:sp>
        <p:nvSpPr>
          <p:cNvPr id="181" name="Google Shape;181;p2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latin typeface="Poppins"/>
                <a:ea typeface="Poppins"/>
                <a:cs typeface="Poppins"/>
                <a:sym typeface="Poppins"/>
              </a:rPr>
              <a:t>For our final recommendation, we propose a combined approach. TLS should be implemented everywhere as the baseline—it’s low-cost, easy to deploy, and immediately eliminates the biggest weakness MitM attacks rely on: readable traffic.  </a:t>
            </a:r>
            <a:r>
              <a:rPr lang="en" sz="1400">
                <a:latin typeface="Poppins"/>
                <a:ea typeface="Poppins"/>
                <a:cs typeface="Poppins"/>
                <a:sym typeface="Poppins"/>
              </a:rPr>
              <a:t>Additionally, Zero Trust should be applied to systems that hold sensitive data or high-value accounts. These two controls provide practical, high-impact protection with minimal disruption to day-to-day operations.</a:t>
            </a:r>
            <a:endParaRPr sz="1400">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Sources</a:t>
            </a:r>
            <a:endParaRPr/>
          </a:p>
        </p:txBody>
      </p:sp>
      <p:sp>
        <p:nvSpPr>
          <p:cNvPr id="187" name="Google Shape;187;p2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u="sng">
                <a:solidFill>
                  <a:schemeClr val="hlink"/>
                </a:solidFill>
                <a:hlinkClick r:id="rId3"/>
              </a:rPr>
              <a:t>https://csrc.nist.gov/glossary/term/man_in_the_middle_attack</a:t>
            </a:r>
            <a:endParaRPr/>
          </a:p>
          <a:p>
            <a:pPr indent="0" lvl="0" marL="0" rtl="0" algn="l">
              <a:spcBef>
                <a:spcPts val="1200"/>
              </a:spcBef>
              <a:spcAft>
                <a:spcPts val="0"/>
              </a:spcAft>
              <a:buNone/>
            </a:pPr>
            <a:r>
              <a:rPr lang="en"/>
              <a:t> </a:t>
            </a:r>
            <a:endParaRPr/>
          </a:p>
          <a:p>
            <a:pPr indent="-342900" lvl="0" marL="457200" rtl="0" algn="l">
              <a:spcBef>
                <a:spcPts val="1200"/>
              </a:spcBef>
              <a:spcAft>
                <a:spcPts val="0"/>
              </a:spcAft>
              <a:buSzPts val="1800"/>
              <a:buChar char="●"/>
            </a:pPr>
            <a:r>
              <a:rPr lang="en" u="sng">
                <a:solidFill>
                  <a:schemeClr val="hlink"/>
                </a:solidFill>
                <a:hlinkClick r:id="rId4"/>
              </a:rPr>
              <a:t>https://awareforce.com/equifax-man-in-the-middle-attack</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